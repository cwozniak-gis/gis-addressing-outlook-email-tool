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1"/>
  </p:notesMasterIdLst>
  <p:sldIdLst>
    <p:sldId id="256" r:id="rId2"/>
    <p:sldId id="261" r:id="rId3"/>
    <p:sldId id="262" r:id="rId4"/>
    <p:sldId id="266" r:id="rId5"/>
    <p:sldId id="267" r:id="rId6"/>
    <p:sldId id="269" r:id="rId7"/>
    <p:sldId id="270" r:id="rId8"/>
    <p:sldId id="273" r:id="rId9"/>
    <p:sldId id="265" r:id="rId10"/>
    <p:sldId id="263" r:id="rId11"/>
    <p:sldId id="264" r:id="rId12"/>
    <p:sldId id="260" r:id="rId13"/>
    <p:sldId id="275" r:id="rId14"/>
    <p:sldId id="258" r:id="rId15"/>
    <p:sldId id="271" r:id="rId16"/>
    <p:sldId id="272" r:id="rId17"/>
    <p:sldId id="259" r:id="rId18"/>
    <p:sldId id="274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B1E5"/>
    <a:srgbClr val="FF0000"/>
    <a:srgbClr val="FB1C05"/>
    <a:srgbClr val="1CADE4"/>
    <a:srgbClr val="6A6A6A"/>
    <a:srgbClr val="2FA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9535" autoAdjust="0"/>
  </p:normalViewPr>
  <p:slideViewPr>
    <p:cSldViewPr snapToGrid="0">
      <p:cViewPr varScale="1">
        <p:scale>
          <a:sx n="91" d="100"/>
          <a:sy n="91" d="100"/>
        </p:scale>
        <p:origin x="12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47BB3-5B96-4798-BC38-2DF950D15F32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2E682-75BB-4300-A539-01990BCA8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6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44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02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218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18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05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7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27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32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12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13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83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553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98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391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552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84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099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26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E2E682-75BB-4300-A539-01990BCA8A6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41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93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1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03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63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7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70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62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07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10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85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08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83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48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214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04C9B32-D968-45A5-A9A6-7CCF964AFB14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AB416681-4DB7-4CF1-9BF3-A0CFA0756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381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microsoft.com/office/2007/relationships/hdphoto" Target="../media/hdphoto2.wd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26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11" Type="http://schemas.microsoft.com/office/2007/relationships/hdphoto" Target="../media/hdphoto2.wdp"/><Relationship Id="rId5" Type="http://schemas.openxmlformats.org/officeDocument/2006/relationships/image" Target="../media/image16.png"/><Relationship Id="rId10" Type="http://schemas.openxmlformats.org/officeDocument/2006/relationships/image" Target="../media/image31.png"/><Relationship Id="rId4" Type="http://schemas.openxmlformats.org/officeDocument/2006/relationships/image" Target="../media/image33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44.png"/><Relationship Id="rId4" Type="http://schemas.microsoft.com/office/2007/relationships/hdphoto" Target="../media/hdphoto3.wdp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44.png"/><Relationship Id="rId10" Type="http://schemas.openxmlformats.org/officeDocument/2006/relationships/image" Target="../media/image45.png"/><Relationship Id="rId4" Type="http://schemas.microsoft.com/office/2007/relationships/hdphoto" Target="../media/hdphoto3.wdp"/><Relationship Id="rId9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hyperlink" Target="mailto:cwozniak@bedfordcountyva.gov" TargetMode="External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microsoft.com/office/2007/relationships/hdphoto" Target="../media/hdphoto6.wdp"/><Relationship Id="rId5" Type="http://schemas.openxmlformats.org/officeDocument/2006/relationships/image" Target="../media/image48.png"/><Relationship Id="rId10" Type="http://schemas.microsoft.com/office/2007/relationships/hdphoto" Target="../media/hdphoto8.wdp"/><Relationship Id="rId4" Type="http://schemas.openxmlformats.org/officeDocument/2006/relationships/image" Target="../media/image47.png"/><Relationship Id="rId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756719"/>
            <a:ext cx="10572000" cy="224170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Automating </a:t>
            </a:r>
            <a:r>
              <a:rPr lang="en-US" dirty="0" smtClean="0"/>
              <a:t>Addressing Assignment Notifications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8712" y="5209678"/>
            <a:ext cx="10572000" cy="93707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Chris Wozniak</a:t>
            </a:r>
          </a:p>
          <a:p>
            <a:r>
              <a:rPr lang="en-US" sz="2400" b="1" dirty="0" smtClean="0"/>
              <a:t>Bedford County </a:t>
            </a:r>
            <a:r>
              <a:rPr lang="en-US" sz="2400" dirty="0" smtClean="0"/>
              <a:t>GIS Technician</a:t>
            </a:r>
            <a:endParaRPr lang="en-US" sz="2400" dirty="0"/>
          </a:p>
        </p:txBody>
      </p:sp>
      <p:pic>
        <p:nvPicPr>
          <p:cNvPr id="5" name="Picture 4" descr="Clipart - Virginia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5794" y="4143375"/>
            <a:ext cx="3874754" cy="16903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601" y="5112684"/>
            <a:ext cx="543246" cy="543246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818712" y="6088065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026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Automate? …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128" y="2286000"/>
            <a:ext cx="4951870" cy="4023937"/>
          </a:xfrm>
        </p:spPr>
      </p:pic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1073151" y="2452309"/>
            <a:ext cx="5356977" cy="3636511"/>
          </a:xfrm>
        </p:spPr>
        <p:txBody>
          <a:bodyPr anchor="t"/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4800" b="1" dirty="0" smtClean="0"/>
              <a:t>Save Time!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3151" y="2335877"/>
            <a:ext cx="5444027" cy="2261062"/>
          </a:xfrm>
          <a:prstGeom prst="round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18712" y="6265348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37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Automate?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1073151" y="2452309"/>
            <a:ext cx="5356977" cy="3636511"/>
          </a:xfrm>
        </p:spPr>
        <p:txBody>
          <a:bodyPr anchor="t"/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4800" b="1" dirty="0" smtClean="0"/>
              <a:t>Save Time!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4000" b="1" u="sng" dirty="0" smtClean="0"/>
              <a:t>Minimize</a:t>
            </a:r>
            <a:r>
              <a:rPr lang="en-US" sz="4000" dirty="0" smtClean="0"/>
              <a:t> Human-Induced Errors — i.e., </a:t>
            </a:r>
            <a:r>
              <a:rPr lang="en-US" sz="4000" b="1" u="sng" dirty="0" smtClean="0"/>
              <a:t>Typo’s</a:t>
            </a:r>
          </a:p>
          <a:p>
            <a:endParaRPr lang="en-US" sz="2800" u="sng" dirty="0"/>
          </a:p>
        </p:txBody>
      </p:sp>
      <p:sp>
        <p:nvSpPr>
          <p:cNvPr id="5" name="Rounded Rectangle 4"/>
          <p:cNvSpPr/>
          <p:nvPr/>
        </p:nvSpPr>
        <p:spPr>
          <a:xfrm>
            <a:off x="1073151" y="4039985"/>
            <a:ext cx="5444027" cy="2261062"/>
          </a:xfrm>
          <a:prstGeom prst="roundRect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826" y="2268203"/>
            <a:ext cx="4936264" cy="4043754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9715500" y="4695825"/>
            <a:ext cx="428625" cy="3333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841876" y="2287253"/>
            <a:ext cx="2483099" cy="1294147"/>
          </a:xfrm>
          <a:prstGeom prst="roundRect">
            <a:avLst/>
          </a:prstGeom>
          <a:solidFill>
            <a:srgbClr val="35B1E5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“Summer Time Ln”</a:t>
            </a:r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“Summertime Ln”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18712" y="6284010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61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291" y="5638800"/>
            <a:ext cx="10561418" cy="56673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>Before </a:t>
            </a:r>
            <a:r>
              <a:rPr lang="en-US" sz="3600" dirty="0" smtClean="0"/>
              <a:t>–</a:t>
            </a:r>
            <a:r>
              <a:rPr lang="en-US" sz="3600" b="1" dirty="0" smtClean="0"/>
              <a:t> </a:t>
            </a:r>
            <a:r>
              <a:rPr lang="en-US" sz="3100" dirty="0" smtClean="0"/>
              <a:t>Form Letters</a:t>
            </a:r>
            <a:r>
              <a:rPr lang="en-US" dirty="0" smtClean="0"/>
              <a:t> </a:t>
            </a:r>
            <a:r>
              <a:rPr lang="en-US" sz="2000" i="1" dirty="0" smtClean="0"/>
              <a:t>(manually fill-in-the-blank’s)</a:t>
            </a:r>
            <a:endParaRPr lang="en-US" i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077" y="148694"/>
            <a:ext cx="8141843" cy="5490106"/>
          </a:xfrm>
          <a:prstGeom prst="rect">
            <a:avLst/>
          </a:prstGeom>
        </p:spPr>
      </p:pic>
      <p:pic>
        <p:nvPicPr>
          <p:cNvPr id="12" name="Picture 11" descr="Hand Writing PNG Transparent Images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448" y="962025"/>
            <a:ext cx="544386" cy="457199"/>
          </a:xfrm>
          <a:prstGeom prst="rect">
            <a:avLst/>
          </a:prstGeom>
        </p:spPr>
      </p:pic>
      <p:pic>
        <p:nvPicPr>
          <p:cNvPr id="13" name="Picture 12" descr="Hand Writing PNG Transparent Images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993" y="409575"/>
            <a:ext cx="424667" cy="356654"/>
          </a:xfrm>
          <a:prstGeom prst="rect">
            <a:avLst/>
          </a:prstGeom>
        </p:spPr>
      </p:pic>
      <p:pic>
        <p:nvPicPr>
          <p:cNvPr id="14" name="Picture 13" descr="Hand Writing PNG Transparent Images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848" y="962025"/>
            <a:ext cx="544386" cy="457199"/>
          </a:xfrm>
          <a:prstGeom prst="rect">
            <a:avLst/>
          </a:prstGeom>
        </p:spPr>
      </p:pic>
      <p:pic>
        <p:nvPicPr>
          <p:cNvPr id="16" name="Picture 15" descr="Hand Writing PNG Transparent Images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851" y="749827"/>
            <a:ext cx="505326" cy="424395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2118951" y="1057275"/>
            <a:ext cx="1481499" cy="3047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068764" y="3108331"/>
            <a:ext cx="2055561" cy="3047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9330898" y="1362073"/>
            <a:ext cx="419100" cy="3047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8097355" y="1362070"/>
            <a:ext cx="419100" cy="3047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8492699" y="1362070"/>
            <a:ext cx="419100" cy="3047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8869667" y="1323769"/>
            <a:ext cx="419100" cy="3047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802741" y="1323769"/>
            <a:ext cx="419100" cy="3047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592951" y="1323769"/>
            <a:ext cx="1127703" cy="3047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4173612" y="1323769"/>
            <a:ext cx="636624" cy="3047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981903" y="740201"/>
            <a:ext cx="419100" cy="3047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991954" y="220397"/>
            <a:ext cx="1275245" cy="3047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321300" y="2067675"/>
            <a:ext cx="577850" cy="3047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818712" y="6088065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37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868" y="5217951"/>
            <a:ext cx="10561418" cy="56673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>The Idea …</a:t>
            </a:r>
            <a:endParaRPr lang="en-US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21" y="304034"/>
            <a:ext cx="8376186" cy="4325115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716280" y="868680"/>
            <a:ext cx="876300" cy="76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227" y="1854816"/>
            <a:ext cx="6185992" cy="3783984"/>
          </a:xfrm>
          <a:prstGeom prst="rect">
            <a:avLst/>
          </a:prstGeom>
        </p:spPr>
      </p:pic>
      <p:cxnSp>
        <p:nvCxnSpPr>
          <p:cNvPr id="10" name="Curved Connector 9"/>
          <p:cNvCxnSpPr/>
          <p:nvPr/>
        </p:nvCxnSpPr>
        <p:spPr>
          <a:xfrm rot="16200000" flipV="1">
            <a:off x="6899989" y="2141375"/>
            <a:ext cx="3685593" cy="2612573"/>
          </a:xfrm>
          <a:prstGeom prst="curvedConnector3">
            <a:avLst>
              <a:gd name="adj1" fmla="val 12746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6969967" y="1866122"/>
            <a:ext cx="1212980" cy="3716114"/>
          </a:xfrm>
          <a:custGeom>
            <a:avLst/>
            <a:gdLst>
              <a:gd name="connsiteX0" fmla="*/ 0 w 1212980"/>
              <a:gd name="connsiteY0" fmla="*/ 3704254 h 3716114"/>
              <a:gd name="connsiteX1" fmla="*/ 513184 w 1212980"/>
              <a:gd name="connsiteY1" fmla="*/ 3704254 h 3716114"/>
              <a:gd name="connsiteX2" fmla="*/ 569168 w 1212980"/>
              <a:gd name="connsiteY2" fmla="*/ 3685592 h 3716114"/>
              <a:gd name="connsiteX3" fmla="*/ 597160 w 1212980"/>
              <a:gd name="connsiteY3" fmla="*/ 3676262 h 3716114"/>
              <a:gd name="connsiteX4" fmla="*/ 625151 w 1212980"/>
              <a:gd name="connsiteY4" fmla="*/ 3666931 h 3716114"/>
              <a:gd name="connsiteX5" fmla="*/ 699796 w 1212980"/>
              <a:gd name="connsiteY5" fmla="*/ 3610947 h 3716114"/>
              <a:gd name="connsiteX6" fmla="*/ 727788 w 1212980"/>
              <a:gd name="connsiteY6" fmla="*/ 3601617 h 3716114"/>
              <a:gd name="connsiteX7" fmla="*/ 746449 w 1212980"/>
              <a:gd name="connsiteY7" fmla="*/ 3573625 h 3716114"/>
              <a:gd name="connsiteX8" fmla="*/ 811764 w 1212980"/>
              <a:gd name="connsiteY8" fmla="*/ 3517641 h 3716114"/>
              <a:gd name="connsiteX9" fmla="*/ 830425 w 1212980"/>
              <a:gd name="connsiteY9" fmla="*/ 3489649 h 3716114"/>
              <a:gd name="connsiteX10" fmla="*/ 858417 w 1212980"/>
              <a:gd name="connsiteY10" fmla="*/ 3461658 h 3716114"/>
              <a:gd name="connsiteX11" fmla="*/ 886409 w 1212980"/>
              <a:gd name="connsiteY11" fmla="*/ 3405674 h 3716114"/>
              <a:gd name="connsiteX12" fmla="*/ 923731 w 1212980"/>
              <a:gd name="connsiteY12" fmla="*/ 3321698 h 3716114"/>
              <a:gd name="connsiteX13" fmla="*/ 933062 w 1212980"/>
              <a:gd name="connsiteY13" fmla="*/ 3293707 h 3716114"/>
              <a:gd name="connsiteX14" fmla="*/ 951723 w 1212980"/>
              <a:gd name="connsiteY14" fmla="*/ 3256384 h 3716114"/>
              <a:gd name="connsiteX15" fmla="*/ 970384 w 1212980"/>
              <a:gd name="connsiteY15" fmla="*/ 3228392 h 3716114"/>
              <a:gd name="connsiteX16" fmla="*/ 989045 w 1212980"/>
              <a:gd name="connsiteY16" fmla="*/ 3163078 h 3716114"/>
              <a:gd name="connsiteX17" fmla="*/ 1007706 w 1212980"/>
              <a:gd name="connsiteY17" fmla="*/ 3135086 h 3716114"/>
              <a:gd name="connsiteX18" fmla="*/ 1026368 w 1212980"/>
              <a:gd name="connsiteY18" fmla="*/ 3079102 h 3716114"/>
              <a:gd name="connsiteX19" fmla="*/ 1045029 w 1212980"/>
              <a:gd name="connsiteY19" fmla="*/ 3013788 h 3716114"/>
              <a:gd name="connsiteX20" fmla="*/ 1054360 w 1212980"/>
              <a:gd name="connsiteY20" fmla="*/ 2985796 h 3716114"/>
              <a:gd name="connsiteX21" fmla="*/ 1073021 w 1212980"/>
              <a:gd name="connsiteY21" fmla="*/ 2901821 h 3716114"/>
              <a:gd name="connsiteX22" fmla="*/ 1082351 w 1212980"/>
              <a:gd name="connsiteY22" fmla="*/ 2864498 h 3716114"/>
              <a:gd name="connsiteX23" fmla="*/ 1101013 w 1212980"/>
              <a:gd name="connsiteY23" fmla="*/ 2827176 h 3716114"/>
              <a:gd name="connsiteX24" fmla="*/ 1110343 w 1212980"/>
              <a:gd name="connsiteY24" fmla="*/ 2789854 h 3716114"/>
              <a:gd name="connsiteX25" fmla="*/ 1119674 w 1212980"/>
              <a:gd name="connsiteY25" fmla="*/ 2761862 h 3716114"/>
              <a:gd name="connsiteX26" fmla="*/ 1138335 w 1212980"/>
              <a:gd name="connsiteY26" fmla="*/ 2668556 h 3716114"/>
              <a:gd name="connsiteX27" fmla="*/ 1156996 w 1212980"/>
              <a:gd name="connsiteY27" fmla="*/ 2593911 h 3716114"/>
              <a:gd name="connsiteX28" fmla="*/ 1166327 w 1212980"/>
              <a:gd name="connsiteY28" fmla="*/ 2556588 h 3716114"/>
              <a:gd name="connsiteX29" fmla="*/ 1184988 w 1212980"/>
              <a:gd name="connsiteY29" fmla="*/ 2435290 h 3716114"/>
              <a:gd name="connsiteX30" fmla="*/ 1203649 w 1212980"/>
              <a:gd name="connsiteY30" fmla="*/ 2127380 h 3716114"/>
              <a:gd name="connsiteX31" fmla="*/ 1212980 w 1212980"/>
              <a:gd name="connsiteY31" fmla="*/ 2043405 h 3716114"/>
              <a:gd name="connsiteX32" fmla="*/ 1203649 w 1212980"/>
              <a:gd name="connsiteY32" fmla="*/ 1716833 h 3716114"/>
              <a:gd name="connsiteX33" fmla="*/ 1194319 w 1212980"/>
              <a:gd name="connsiteY33" fmla="*/ 1651519 h 3716114"/>
              <a:gd name="connsiteX34" fmla="*/ 1184988 w 1212980"/>
              <a:gd name="connsiteY34" fmla="*/ 1567543 h 3716114"/>
              <a:gd name="connsiteX35" fmla="*/ 1175657 w 1212980"/>
              <a:gd name="connsiteY35" fmla="*/ 1390262 h 3716114"/>
              <a:gd name="connsiteX36" fmla="*/ 1156996 w 1212980"/>
              <a:gd name="connsiteY36" fmla="*/ 1250302 h 3716114"/>
              <a:gd name="connsiteX37" fmla="*/ 1147666 w 1212980"/>
              <a:gd name="connsiteY37" fmla="*/ 1203649 h 3716114"/>
              <a:gd name="connsiteX38" fmla="*/ 1138335 w 1212980"/>
              <a:gd name="connsiteY38" fmla="*/ 1082351 h 3716114"/>
              <a:gd name="connsiteX39" fmla="*/ 1119674 w 1212980"/>
              <a:gd name="connsiteY39" fmla="*/ 961054 h 3716114"/>
              <a:gd name="connsiteX40" fmla="*/ 1101013 w 1212980"/>
              <a:gd name="connsiteY40" fmla="*/ 755780 h 3716114"/>
              <a:gd name="connsiteX41" fmla="*/ 1091682 w 1212980"/>
              <a:gd name="connsiteY41" fmla="*/ 718458 h 3716114"/>
              <a:gd name="connsiteX42" fmla="*/ 1073021 w 1212980"/>
              <a:gd name="connsiteY42" fmla="*/ 578498 h 3716114"/>
              <a:gd name="connsiteX43" fmla="*/ 1063690 w 1212980"/>
              <a:gd name="connsiteY43" fmla="*/ 531845 h 3716114"/>
              <a:gd name="connsiteX44" fmla="*/ 1045029 w 1212980"/>
              <a:gd name="connsiteY44" fmla="*/ 363894 h 3716114"/>
              <a:gd name="connsiteX45" fmla="*/ 1035698 w 1212980"/>
              <a:gd name="connsiteY45" fmla="*/ 326572 h 3716114"/>
              <a:gd name="connsiteX46" fmla="*/ 1007706 w 1212980"/>
              <a:gd name="connsiteY46" fmla="*/ 223935 h 3716114"/>
              <a:gd name="connsiteX47" fmla="*/ 998376 w 1212980"/>
              <a:gd name="connsiteY47" fmla="*/ 195943 h 3716114"/>
              <a:gd name="connsiteX48" fmla="*/ 989045 w 1212980"/>
              <a:gd name="connsiteY48" fmla="*/ 167951 h 3716114"/>
              <a:gd name="connsiteX49" fmla="*/ 979715 w 1212980"/>
              <a:gd name="connsiteY49" fmla="*/ 83976 h 3716114"/>
              <a:gd name="connsiteX50" fmla="*/ 970384 w 1212980"/>
              <a:gd name="connsiteY50" fmla="*/ 55984 h 3716114"/>
              <a:gd name="connsiteX51" fmla="*/ 961053 w 1212980"/>
              <a:gd name="connsiteY51" fmla="*/ 0 h 3716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2980" h="3716114">
                <a:moveTo>
                  <a:pt x="0" y="3704254"/>
                </a:moveTo>
                <a:cubicBezTo>
                  <a:pt x="216462" y="3716986"/>
                  <a:pt x="240016" y="3722879"/>
                  <a:pt x="513184" y="3704254"/>
                </a:cubicBezTo>
                <a:cubicBezTo>
                  <a:pt x="532809" y="3702916"/>
                  <a:pt x="550507" y="3691812"/>
                  <a:pt x="569168" y="3685592"/>
                </a:cubicBezTo>
                <a:lnTo>
                  <a:pt x="597160" y="3676262"/>
                </a:lnTo>
                <a:lnTo>
                  <a:pt x="625151" y="3666931"/>
                </a:lnTo>
                <a:cubicBezTo>
                  <a:pt x="647255" y="3644828"/>
                  <a:pt x="668150" y="3621495"/>
                  <a:pt x="699796" y="3610947"/>
                </a:cubicBezTo>
                <a:lnTo>
                  <a:pt x="727788" y="3601617"/>
                </a:lnTo>
                <a:cubicBezTo>
                  <a:pt x="734008" y="3592286"/>
                  <a:pt x="739151" y="3582139"/>
                  <a:pt x="746449" y="3573625"/>
                </a:cubicBezTo>
                <a:cubicBezTo>
                  <a:pt x="776617" y="3538428"/>
                  <a:pt x="778747" y="3539652"/>
                  <a:pt x="811764" y="3517641"/>
                </a:cubicBezTo>
                <a:cubicBezTo>
                  <a:pt x="817984" y="3508310"/>
                  <a:pt x="823246" y="3498264"/>
                  <a:pt x="830425" y="3489649"/>
                </a:cubicBezTo>
                <a:cubicBezTo>
                  <a:pt x="838872" y="3479512"/>
                  <a:pt x="851870" y="3473115"/>
                  <a:pt x="858417" y="3461658"/>
                </a:cubicBezTo>
                <a:cubicBezTo>
                  <a:pt x="904272" y="3381410"/>
                  <a:pt x="835086" y="3456994"/>
                  <a:pt x="886409" y="3405674"/>
                </a:cubicBezTo>
                <a:cubicBezTo>
                  <a:pt x="934547" y="3261257"/>
                  <a:pt x="879376" y="3410407"/>
                  <a:pt x="923731" y="3321698"/>
                </a:cubicBezTo>
                <a:cubicBezTo>
                  <a:pt x="928129" y="3312901"/>
                  <a:pt x="929188" y="3302747"/>
                  <a:pt x="933062" y="3293707"/>
                </a:cubicBezTo>
                <a:cubicBezTo>
                  <a:pt x="938541" y="3280922"/>
                  <a:pt x="944822" y="3268461"/>
                  <a:pt x="951723" y="3256384"/>
                </a:cubicBezTo>
                <a:cubicBezTo>
                  <a:pt x="957287" y="3246647"/>
                  <a:pt x="965369" y="3238422"/>
                  <a:pt x="970384" y="3228392"/>
                </a:cubicBezTo>
                <a:cubicBezTo>
                  <a:pt x="988546" y="3192067"/>
                  <a:pt x="971103" y="3204945"/>
                  <a:pt x="989045" y="3163078"/>
                </a:cubicBezTo>
                <a:cubicBezTo>
                  <a:pt x="993462" y="3152771"/>
                  <a:pt x="1003152" y="3145333"/>
                  <a:pt x="1007706" y="3135086"/>
                </a:cubicBezTo>
                <a:cubicBezTo>
                  <a:pt x="1015695" y="3117111"/>
                  <a:pt x="1020147" y="3097763"/>
                  <a:pt x="1026368" y="3079102"/>
                </a:cubicBezTo>
                <a:cubicBezTo>
                  <a:pt x="1048736" y="3011998"/>
                  <a:pt x="1021600" y="3095789"/>
                  <a:pt x="1045029" y="3013788"/>
                </a:cubicBezTo>
                <a:cubicBezTo>
                  <a:pt x="1047731" y="3004331"/>
                  <a:pt x="1051250" y="2995127"/>
                  <a:pt x="1054360" y="2985796"/>
                </a:cubicBezTo>
                <a:cubicBezTo>
                  <a:pt x="1071200" y="2884753"/>
                  <a:pt x="1054644" y="2966143"/>
                  <a:pt x="1073021" y="2901821"/>
                </a:cubicBezTo>
                <a:cubicBezTo>
                  <a:pt x="1076544" y="2889491"/>
                  <a:pt x="1077848" y="2876505"/>
                  <a:pt x="1082351" y="2864498"/>
                </a:cubicBezTo>
                <a:cubicBezTo>
                  <a:pt x="1087235" y="2851474"/>
                  <a:pt x="1094792" y="2839617"/>
                  <a:pt x="1101013" y="2827176"/>
                </a:cubicBezTo>
                <a:cubicBezTo>
                  <a:pt x="1104123" y="2814735"/>
                  <a:pt x="1106820" y="2802184"/>
                  <a:pt x="1110343" y="2789854"/>
                </a:cubicBezTo>
                <a:cubicBezTo>
                  <a:pt x="1113045" y="2780397"/>
                  <a:pt x="1117462" y="2771446"/>
                  <a:pt x="1119674" y="2761862"/>
                </a:cubicBezTo>
                <a:cubicBezTo>
                  <a:pt x="1126806" y="2730956"/>
                  <a:pt x="1130642" y="2699327"/>
                  <a:pt x="1138335" y="2668556"/>
                </a:cubicBezTo>
                <a:lnTo>
                  <a:pt x="1156996" y="2593911"/>
                </a:lnTo>
                <a:cubicBezTo>
                  <a:pt x="1160106" y="2581470"/>
                  <a:pt x="1164219" y="2569237"/>
                  <a:pt x="1166327" y="2556588"/>
                </a:cubicBezTo>
                <a:cubicBezTo>
                  <a:pt x="1179272" y="2478911"/>
                  <a:pt x="1172981" y="2519333"/>
                  <a:pt x="1184988" y="2435290"/>
                </a:cubicBezTo>
                <a:cubicBezTo>
                  <a:pt x="1190490" y="2330758"/>
                  <a:pt x="1194621" y="2231208"/>
                  <a:pt x="1203649" y="2127380"/>
                </a:cubicBezTo>
                <a:cubicBezTo>
                  <a:pt x="1206089" y="2099322"/>
                  <a:pt x="1209870" y="2071397"/>
                  <a:pt x="1212980" y="2043405"/>
                </a:cubicBezTo>
                <a:cubicBezTo>
                  <a:pt x="1209870" y="1934548"/>
                  <a:pt x="1208829" y="1825612"/>
                  <a:pt x="1203649" y="1716833"/>
                </a:cubicBezTo>
                <a:cubicBezTo>
                  <a:pt x="1202603" y="1694866"/>
                  <a:pt x="1197047" y="1673342"/>
                  <a:pt x="1194319" y="1651519"/>
                </a:cubicBezTo>
                <a:cubicBezTo>
                  <a:pt x="1190826" y="1623572"/>
                  <a:pt x="1188098" y="1595535"/>
                  <a:pt x="1184988" y="1567543"/>
                </a:cubicBezTo>
                <a:cubicBezTo>
                  <a:pt x="1181878" y="1508449"/>
                  <a:pt x="1179873" y="1449287"/>
                  <a:pt x="1175657" y="1390262"/>
                </a:cubicBezTo>
                <a:cubicBezTo>
                  <a:pt x="1172176" y="1341530"/>
                  <a:pt x="1165625" y="1297762"/>
                  <a:pt x="1156996" y="1250302"/>
                </a:cubicBezTo>
                <a:cubicBezTo>
                  <a:pt x="1154159" y="1234699"/>
                  <a:pt x="1150776" y="1219200"/>
                  <a:pt x="1147666" y="1203649"/>
                </a:cubicBezTo>
                <a:cubicBezTo>
                  <a:pt x="1144556" y="1163216"/>
                  <a:pt x="1142580" y="1122680"/>
                  <a:pt x="1138335" y="1082351"/>
                </a:cubicBezTo>
                <a:cubicBezTo>
                  <a:pt x="1116224" y="872305"/>
                  <a:pt x="1142333" y="1198974"/>
                  <a:pt x="1119674" y="961054"/>
                </a:cubicBezTo>
                <a:cubicBezTo>
                  <a:pt x="1111322" y="873356"/>
                  <a:pt x="1114169" y="834715"/>
                  <a:pt x="1101013" y="755780"/>
                </a:cubicBezTo>
                <a:cubicBezTo>
                  <a:pt x="1098905" y="743131"/>
                  <a:pt x="1094792" y="730899"/>
                  <a:pt x="1091682" y="718458"/>
                </a:cubicBezTo>
                <a:cubicBezTo>
                  <a:pt x="1086968" y="680748"/>
                  <a:pt x="1079455" y="617102"/>
                  <a:pt x="1073021" y="578498"/>
                </a:cubicBezTo>
                <a:cubicBezTo>
                  <a:pt x="1070414" y="562855"/>
                  <a:pt x="1066101" y="547520"/>
                  <a:pt x="1063690" y="531845"/>
                </a:cubicBezTo>
                <a:cubicBezTo>
                  <a:pt x="1033180" y="333527"/>
                  <a:pt x="1078424" y="597651"/>
                  <a:pt x="1045029" y="363894"/>
                </a:cubicBezTo>
                <a:cubicBezTo>
                  <a:pt x="1043215" y="351199"/>
                  <a:pt x="1038480" y="339090"/>
                  <a:pt x="1035698" y="326572"/>
                </a:cubicBezTo>
                <a:cubicBezTo>
                  <a:pt x="1018111" y="247429"/>
                  <a:pt x="1036840" y="311338"/>
                  <a:pt x="1007706" y="223935"/>
                </a:cubicBezTo>
                <a:lnTo>
                  <a:pt x="998376" y="195943"/>
                </a:lnTo>
                <a:lnTo>
                  <a:pt x="989045" y="167951"/>
                </a:lnTo>
                <a:cubicBezTo>
                  <a:pt x="985935" y="139959"/>
                  <a:pt x="984345" y="111757"/>
                  <a:pt x="979715" y="83976"/>
                </a:cubicBezTo>
                <a:cubicBezTo>
                  <a:pt x="978098" y="74274"/>
                  <a:pt x="972518" y="65585"/>
                  <a:pt x="970384" y="55984"/>
                </a:cubicBezTo>
                <a:cubicBezTo>
                  <a:pt x="966280" y="37516"/>
                  <a:pt x="961053" y="0"/>
                  <a:pt x="961053" y="0"/>
                </a:cubicBezTo>
              </a:path>
            </a:pathLst>
          </a:custGeom>
          <a:noFill/>
          <a:ln w="38100">
            <a:solidFill>
              <a:srgbClr val="FB1C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18" idx="44"/>
          </p:cNvCxnSpPr>
          <p:nvPr/>
        </p:nvCxnSpPr>
        <p:spPr>
          <a:xfrm flipH="1" flipV="1">
            <a:off x="7910513" y="1790700"/>
            <a:ext cx="104483" cy="4393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46442" y="1640013"/>
            <a:ext cx="580114" cy="186231"/>
          </a:xfrm>
          <a:prstGeom prst="ellipse">
            <a:avLst/>
          </a:prstGeom>
          <a:noFill/>
          <a:ln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9407469" y="5337769"/>
            <a:ext cx="580114" cy="186231"/>
          </a:xfrm>
          <a:prstGeom prst="ellipse">
            <a:avLst/>
          </a:prstGeom>
          <a:noFill/>
          <a:ln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7770034" y="1627329"/>
            <a:ext cx="385439" cy="180176"/>
          </a:xfrm>
          <a:prstGeom prst="ellipse">
            <a:avLst/>
          </a:prstGeom>
          <a:noFill/>
          <a:ln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584528" y="5469930"/>
            <a:ext cx="385439" cy="180176"/>
          </a:xfrm>
          <a:prstGeom prst="ellipse">
            <a:avLst/>
          </a:prstGeom>
          <a:noFill/>
          <a:ln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543982" y="5110282"/>
            <a:ext cx="1366531" cy="180176"/>
          </a:xfrm>
          <a:prstGeom prst="ellipse">
            <a:avLst/>
          </a:prstGeom>
          <a:noFill/>
          <a:ln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724239" y="1619602"/>
            <a:ext cx="1529917" cy="223908"/>
          </a:xfrm>
          <a:prstGeom prst="ellipse">
            <a:avLst/>
          </a:prstGeom>
          <a:noFill/>
          <a:ln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6298163" y="1903445"/>
            <a:ext cx="289249" cy="3219061"/>
          </a:xfrm>
          <a:custGeom>
            <a:avLst/>
            <a:gdLst>
              <a:gd name="connsiteX0" fmla="*/ 289249 w 289249"/>
              <a:gd name="connsiteY0" fmla="*/ 3219061 h 3219061"/>
              <a:gd name="connsiteX1" fmla="*/ 251927 w 289249"/>
              <a:gd name="connsiteY1" fmla="*/ 3135086 h 3219061"/>
              <a:gd name="connsiteX2" fmla="*/ 233266 w 289249"/>
              <a:gd name="connsiteY2" fmla="*/ 3107094 h 3219061"/>
              <a:gd name="connsiteX3" fmla="*/ 223935 w 289249"/>
              <a:gd name="connsiteY3" fmla="*/ 3079102 h 3219061"/>
              <a:gd name="connsiteX4" fmla="*/ 195943 w 289249"/>
              <a:gd name="connsiteY4" fmla="*/ 3041779 h 3219061"/>
              <a:gd name="connsiteX5" fmla="*/ 177282 w 289249"/>
              <a:gd name="connsiteY5" fmla="*/ 3013788 h 3219061"/>
              <a:gd name="connsiteX6" fmla="*/ 149290 w 289249"/>
              <a:gd name="connsiteY6" fmla="*/ 2948473 h 3219061"/>
              <a:gd name="connsiteX7" fmla="*/ 130629 w 289249"/>
              <a:gd name="connsiteY7" fmla="*/ 2911151 h 3219061"/>
              <a:gd name="connsiteX8" fmla="*/ 111968 w 289249"/>
              <a:gd name="connsiteY8" fmla="*/ 2883159 h 3219061"/>
              <a:gd name="connsiteX9" fmla="*/ 83976 w 289249"/>
              <a:gd name="connsiteY9" fmla="*/ 2799184 h 3219061"/>
              <a:gd name="connsiteX10" fmla="*/ 65315 w 289249"/>
              <a:gd name="connsiteY10" fmla="*/ 2743200 h 3219061"/>
              <a:gd name="connsiteX11" fmla="*/ 55984 w 289249"/>
              <a:gd name="connsiteY11" fmla="*/ 2715208 h 3219061"/>
              <a:gd name="connsiteX12" fmla="*/ 46653 w 289249"/>
              <a:gd name="connsiteY12" fmla="*/ 2659224 h 3219061"/>
              <a:gd name="connsiteX13" fmla="*/ 27992 w 289249"/>
              <a:gd name="connsiteY13" fmla="*/ 2565918 h 3219061"/>
              <a:gd name="connsiteX14" fmla="*/ 18661 w 289249"/>
              <a:gd name="connsiteY14" fmla="*/ 2407298 h 3219061"/>
              <a:gd name="connsiteX15" fmla="*/ 9331 w 289249"/>
              <a:gd name="connsiteY15" fmla="*/ 2323322 h 3219061"/>
              <a:gd name="connsiteX16" fmla="*/ 0 w 289249"/>
              <a:gd name="connsiteY16" fmla="*/ 2202024 h 3219061"/>
              <a:gd name="connsiteX17" fmla="*/ 9331 w 289249"/>
              <a:gd name="connsiteY17" fmla="*/ 1371600 h 3219061"/>
              <a:gd name="connsiteX18" fmla="*/ 27992 w 289249"/>
              <a:gd name="connsiteY18" fmla="*/ 1194318 h 3219061"/>
              <a:gd name="connsiteX19" fmla="*/ 46653 w 289249"/>
              <a:gd name="connsiteY19" fmla="*/ 961053 h 3219061"/>
              <a:gd name="connsiteX20" fmla="*/ 65315 w 289249"/>
              <a:gd name="connsiteY20" fmla="*/ 727788 h 3219061"/>
              <a:gd name="connsiteX21" fmla="*/ 74645 w 289249"/>
              <a:gd name="connsiteY21" fmla="*/ 615820 h 3219061"/>
              <a:gd name="connsiteX22" fmla="*/ 83976 w 289249"/>
              <a:gd name="connsiteY22" fmla="*/ 559837 h 3219061"/>
              <a:gd name="connsiteX23" fmla="*/ 93306 w 289249"/>
              <a:gd name="connsiteY23" fmla="*/ 401216 h 3219061"/>
              <a:gd name="connsiteX24" fmla="*/ 102637 w 289249"/>
              <a:gd name="connsiteY24" fmla="*/ 223935 h 3219061"/>
              <a:gd name="connsiteX25" fmla="*/ 111968 w 289249"/>
              <a:gd name="connsiteY25" fmla="*/ 167951 h 3219061"/>
              <a:gd name="connsiteX26" fmla="*/ 130629 w 289249"/>
              <a:gd name="connsiteY26" fmla="*/ 55984 h 3219061"/>
              <a:gd name="connsiteX27" fmla="*/ 139959 w 289249"/>
              <a:gd name="connsiteY27" fmla="*/ 0 h 3219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89249" h="3219061">
                <a:moveTo>
                  <a:pt x="289249" y="3219061"/>
                </a:moveTo>
                <a:cubicBezTo>
                  <a:pt x="275918" y="3185734"/>
                  <a:pt x="269362" y="3165597"/>
                  <a:pt x="251927" y="3135086"/>
                </a:cubicBezTo>
                <a:cubicBezTo>
                  <a:pt x="246363" y="3125349"/>
                  <a:pt x="238281" y="3117124"/>
                  <a:pt x="233266" y="3107094"/>
                </a:cubicBezTo>
                <a:cubicBezTo>
                  <a:pt x="228867" y="3098297"/>
                  <a:pt x="228815" y="3087642"/>
                  <a:pt x="223935" y="3079102"/>
                </a:cubicBezTo>
                <a:cubicBezTo>
                  <a:pt x="216219" y="3065600"/>
                  <a:pt x="204982" y="3054434"/>
                  <a:pt x="195943" y="3041779"/>
                </a:cubicBezTo>
                <a:cubicBezTo>
                  <a:pt x="189425" y="3032654"/>
                  <a:pt x="182846" y="3023524"/>
                  <a:pt x="177282" y="3013788"/>
                </a:cubicBezTo>
                <a:cubicBezTo>
                  <a:pt x="141918" y="2951901"/>
                  <a:pt x="171720" y="3000809"/>
                  <a:pt x="149290" y="2948473"/>
                </a:cubicBezTo>
                <a:cubicBezTo>
                  <a:pt x="143811" y="2935689"/>
                  <a:pt x="137530" y="2923227"/>
                  <a:pt x="130629" y="2911151"/>
                </a:cubicBezTo>
                <a:cubicBezTo>
                  <a:pt x="125065" y="2901414"/>
                  <a:pt x="116522" y="2893406"/>
                  <a:pt x="111968" y="2883159"/>
                </a:cubicBezTo>
                <a:cubicBezTo>
                  <a:pt x="111960" y="2883142"/>
                  <a:pt x="88644" y="2813189"/>
                  <a:pt x="83976" y="2799184"/>
                </a:cubicBezTo>
                <a:lnTo>
                  <a:pt x="65315" y="2743200"/>
                </a:lnTo>
                <a:cubicBezTo>
                  <a:pt x="62205" y="2733869"/>
                  <a:pt x="57601" y="2724910"/>
                  <a:pt x="55984" y="2715208"/>
                </a:cubicBezTo>
                <a:cubicBezTo>
                  <a:pt x="52874" y="2696547"/>
                  <a:pt x="50140" y="2677819"/>
                  <a:pt x="46653" y="2659224"/>
                </a:cubicBezTo>
                <a:cubicBezTo>
                  <a:pt x="40808" y="2628049"/>
                  <a:pt x="27992" y="2565918"/>
                  <a:pt x="27992" y="2565918"/>
                </a:cubicBezTo>
                <a:cubicBezTo>
                  <a:pt x="24882" y="2513045"/>
                  <a:pt x="22723" y="2460107"/>
                  <a:pt x="18661" y="2407298"/>
                </a:cubicBezTo>
                <a:cubicBezTo>
                  <a:pt x="16501" y="2379217"/>
                  <a:pt x="11881" y="2351371"/>
                  <a:pt x="9331" y="2323322"/>
                </a:cubicBezTo>
                <a:cubicBezTo>
                  <a:pt x="5660" y="2282936"/>
                  <a:pt x="3110" y="2242457"/>
                  <a:pt x="0" y="2202024"/>
                </a:cubicBezTo>
                <a:cubicBezTo>
                  <a:pt x="3110" y="1925216"/>
                  <a:pt x="3740" y="1648369"/>
                  <a:pt x="9331" y="1371600"/>
                </a:cubicBezTo>
                <a:cubicBezTo>
                  <a:pt x="9889" y="1343988"/>
                  <a:pt x="25638" y="1224915"/>
                  <a:pt x="27992" y="1194318"/>
                </a:cubicBezTo>
                <a:cubicBezTo>
                  <a:pt x="65535" y="706273"/>
                  <a:pt x="18094" y="1232364"/>
                  <a:pt x="46653" y="961053"/>
                </a:cubicBezTo>
                <a:cubicBezTo>
                  <a:pt x="56892" y="863782"/>
                  <a:pt x="57405" y="830620"/>
                  <a:pt x="65315" y="727788"/>
                </a:cubicBezTo>
                <a:cubicBezTo>
                  <a:pt x="68187" y="690446"/>
                  <a:pt x="70509" y="653043"/>
                  <a:pt x="74645" y="615820"/>
                </a:cubicBezTo>
                <a:cubicBezTo>
                  <a:pt x="76734" y="597017"/>
                  <a:pt x="80866" y="578498"/>
                  <a:pt x="83976" y="559837"/>
                </a:cubicBezTo>
                <a:cubicBezTo>
                  <a:pt x="87086" y="506963"/>
                  <a:pt x="90368" y="454100"/>
                  <a:pt x="93306" y="401216"/>
                </a:cubicBezTo>
                <a:cubicBezTo>
                  <a:pt x="96588" y="342132"/>
                  <a:pt x="97918" y="282922"/>
                  <a:pt x="102637" y="223935"/>
                </a:cubicBezTo>
                <a:cubicBezTo>
                  <a:pt x="104146" y="205076"/>
                  <a:pt x="109091" y="186650"/>
                  <a:pt x="111968" y="167951"/>
                </a:cubicBezTo>
                <a:cubicBezTo>
                  <a:pt x="118290" y="126854"/>
                  <a:pt x="120771" y="95418"/>
                  <a:pt x="130629" y="55984"/>
                </a:cubicBezTo>
                <a:cubicBezTo>
                  <a:pt x="142909" y="6862"/>
                  <a:pt x="139959" y="49476"/>
                  <a:pt x="139959" y="0"/>
                </a:cubicBezTo>
              </a:path>
            </a:pathLst>
          </a:custGeom>
          <a:noFill/>
          <a:ln w="38100">
            <a:solidFill>
              <a:srgbClr val="FB1C0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>
            <a:stCxn id="28" idx="24"/>
          </p:cNvCxnSpPr>
          <p:nvPr/>
        </p:nvCxnSpPr>
        <p:spPr>
          <a:xfrm flipV="1">
            <a:off x="6400800" y="1861392"/>
            <a:ext cx="41987" cy="265988"/>
          </a:xfrm>
          <a:prstGeom prst="straightConnector1">
            <a:avLst/>
          </a:prstGeom>
          <a:ln w="38100">
            <a:solidFill>
              <a:srgbClr val="FB1C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/>
          <p:cNvCxnSpPr/>
          <p:nvPr/>
        </p:nvCxnSpPr>
        <p:spPr>
          <a:xfrm rot="16200000" flipV="1">
            <a:off x="3258274" y="2989815"/>
            <a:ext cx="2842533" cy="1853375"/>
          </a:xfrm>
          <a:prstGeom prst="curvedConnector3">
            <a:avLst>
              <a:gd name="adj1" fmla="val 10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477186" y="2262079"/>
            <a:ext cx="551889" cy="185845"/>
          </a:xfrm>
          <a:prstGeom prst="ellipse">
            <a:avLst/>
          </a:prstGeom>
          <a:noFill/>
          <a:ln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4130943" y="1640399"/>
            <a:ext cx="466831" cy="185845"/>
          </a:xfrm>
          <a:prstGeom prst="ellipse">
            <a:avLst/>
          </a:prstGeom>
          <a:noFill/>
          <a:ln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Curved Connector 36"/>
          <p:cNvCxnSpPr>
            <a:endCxn id="36" idx="7"/>
          </p:cNvCxnSpPr>
          <p:nvPr/>
        </p:nvCxnSpPr>
        <p:spPr>
          <a:xfrm rot="10800000" flipV="1">
            <a:off x="4529408" y="1066799"/>
            <a:ext cx="995092" cy="600815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91649" y="933061"/>
            <a:ext cx="21664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u="sng" dirty="0" smtClean="0">
                <a:uFill>
                  <a:solidFill>
                    <a:srgbClr val="FF0000"/>
                  </a:solidFill>
                </a:uFill>
              </a:rPr>
              <a:t>Parcel Feature Class Selection</a:t>
            </a:r>
            <a:endParaRPr lang="en-US" sz="1050" u="sng" dirty="0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818712" y="6088065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95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34" grpId="0" animBg="1"/>
      <p:bldP spid="36" grpId="0" animBg="1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— Python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73" y="1867187"/>
            <a:ext cx="5397946" cy="21531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866" y="1975622"/>
            <a:ext cx="2998714" cy="195338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942" y="4396459"/>
            <a:ext cx="5068007" cy="212437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3924791"/>
            <a:ext cx="5546193" cy="2178696"/>
          </a:xfrm>
          <a:prstGeom prst="rect">
            <a:avLst/>
          </a:prstGeom>
        </p:spPr>
      </p:pic>
      <p:cxnSp>
        <p:nvCxnSpPr>
          <p:cNvPr id="17" name="Curved Connector 16"/>
          <p:cNvCxnSpPr>
            <a:stCxn id="14" idx="3"/>
            <a:endCxn id="12" idx="1"/>
          </p:cNvCxnSpPr>
          <p:nvPr/>
        </p:nvCxnSpPr>
        <p:spPr>
          <a:xfrm flipV="1">
            <a:off x="5593949" y="2952316"/>
            <a:ext cx="1493917" cy="2506329"/>
          </a:xfrm>
          <a:prstGeom prst="curvedConnector3">
            <a:avLst>
              <a:gd name="adj1" fmla="val 25017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1" idx="2"/>
            <a:endCxn id="14" idx="0"/>
          </p:cNvCxnSpPr>
          <p:nvPr/>
        </p:nvCxnSpPr>
        <p:spPr>
          <a:xfrm>
            <a:off x="3059946" y="4020367"/>
            <a:ext cx="0" cy="37609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3893" y="1675614"/>
            <a:ext cx="5677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 smtClean="0"/>
              <a:t>1</a:t>
            </a:r>
            <a:endParaRPr lang="en-US" sz="5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93742" y="4008251"/>
            <a:ext cx="5725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0786" y="1675614"/>
            <a:ext cx="5725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3</a:t>
            </a:r>
          </a:p>
        </p:txBody>
      </p:sp>
      <p:sp>
        <p:nvSpPr>
          <p:cNvPr id="35" name="Content Placeholder 2"/>
          <p:cNvSpPr txBox="1">
            <a:spLocks/>
          </p:cNvSpPr>
          <p:nvPr/>
        </p:nvSpPr>
        <p:spPr>
          <a:xfrm>
            <a:off x="818712" y="6367981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6" name="Picture 15" descr="Tutorials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3583" y1="24583" x2="43583" y2="24583"/>
                        <a14:foregroundMark x1="53209" y1="56250" x2="53209" y2="56250"/>
                        <a14:foregroundMark x1="47059" y1="60417" x2="43583" y2="65000"/>
                        <a14:foregroundMark x1="61230" y1="58750" x2="66845" y2="45833"/>
                        <a14:foregroundMark x1="55615" y1="75417" x2="55882" y2="754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225" y="177857"/>
            <a:ext cx="2173355" cy="139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18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Make the </a:t>
            </a:r>
            <a:r>
              <a:rPr lang="en-US" dirty="0" smtClean="0"/>
              <a:t>Process </a:t>
            </a:r>
            <a:r>
              <a:rPr lang="en-US" dirty="0"/>
              <a:t>“Read” </a:t>
            </a:r>
            <a:r>
              <a:rPr lang="en-US" dirty="0" smtClean="0"/>
              <a:t>Our data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9"/>
            <a:ext cx="5194583" cy="409634"/>
          </a:xfrm>
        </p:spPr>
        <p:txBody>
          <a:bodyPr/>
          <a:lstStyle/>
          <a:p>
            <a:r>
              <a:rPr lang="en-US" dirty="0" smtClean="0"/>
              <a:t>Same way to “Read” Parcel Data: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18712" y="6088065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dirty="0" smtClean="0"/>
              <a:t>Solution — Geoprocessing Tool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834" y="3381324"/>
            <a:ext cx="3524742" cy="24768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062" y="3851977"/>
            <a:ext cx="2925292" cy="241806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2062" y="3160773"/>
            <a:ext cx="2849698" cy="202901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002" y="3768903"/>
            <a:ext cx="3086531" cy="1133633"/>
          </a:xfrm>
          <a:prstGeom prst="rect">
            <a:avLst/>
          </a:prstGeom>
        </p:spPr>
      </p:pic>
      <p:sp>
        <p:nvSpPr>
          <p:cNvPr id="14" name="Content Placeholder 5"/>
          <p:cNvSpPr txBox="1">
            <a:spLocks/>
          </p:cNvSpPr>
          <p:nvPr/>
        </p:nvSpPr>
        <p:spPr>
          <a:xfrm>
            <a:off x="8728037" y="3387787"/>
            <a:ext cx="2747411" cy="4096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Permit Information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7408" y="4914261"/>
            <a:ext cx="2934109" cy="419158"/>
          </a:xfrm>
          <a:prstGeom prst="rect">
            <a:avLst/>
          </a:prstGeom>
        </p:spPr>
      </p:pic>
      <p:sp>
        <p:nvSpPr>
          <p:cNvPr id="16" name="Content Placeholder 5"/>
          <p:cNvSpPr txBox="1">
            <a:spLocks/>
          </p:cNvSpPr>
          <p:nvPr/>
        </p:nvSpPr>
        <p:spPr>
          <a:xfrm>
            <a:off x="5749588" y="4485896"/>
            <a:ext cx="2488658" cy="4096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Recipient’s Email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7234" y="5061010"/>
            <a:ext cx="2381825" cy="1176210"/>
          </a:xfrm>
          <a:prstGeom prst="rect">
            <a:avLst/>
          </a:prstGeom>
        </p:spPr>
      </p:pic>
      <p:sp>
        <p:nvSpPr>
          <p:cNvPr id="18" name="Content Placeholder 5"/>
          <p:cNvSpPr txBox="1">
            <a:spLocks/>
          </p:cNvSpPr>
          <p:nvPr/>
        </p:nvSpPr>
        <p:spPr>
          <a:xfrm>
            <a:off x="6732819" y="5498870"/>
            <a:ext cx="2747411" cy="4096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Email Options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4" grpId="0"/>
      <p:bldP spid="16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000" y="2657831"/>
            <a:ext cx="10571998" cy="3109913"/>
          </a:xfrm>
        </p:spPr>
        <p:txBody>
          <a:bodyPr/>
          <a:lstStyle/>
          <a:p>
            <a:r>
              <a:rPr lang="en-US" sz="2800" dirty="0" smtClean="0"/>
              <a:t>Can specify </a:t>
            </a:r>
            <a:r>
              <a:rPr lang="en-US" sz="2800" b="1" dirty="0" smtClean="0"/>
              <a:t>default parameters</a:t>
            </a:r>
          </a:p>
          <a:p>
            <a:pPr lvl="1"/>
            <a:r>
              <a:rPr lang="en-US" sz="2400" dirty="0" smtClean="0"/>
              <a:t>Saves time!</a:t>
            </a:r>
          </a:p>
          <a:p>
            <a:pPr lvl="1"/>
            <a:r>
              <a:rPr lang="en-US" sz="2400" dirty="0" smtClean="0"/>
              <a:t>Ensures accuracy — same way every time</a:t>
            </a:r>
          </a:p>
          <a:p>
            <a:pPr lvl="1"/>
            <a:endParaRPr lang="en-US" sz="1800" dirty="0" smtClean="0"/>
          </a:p>
          <a:p>
            <a:r>
              <a:rPr lang="en-US" sz="2800" dirty="0" smtClean="0"/>
              <a:t>Can do processes entirely within ArcGIS Pro</a:t>
            </a:r>
            <a:endParaRPr lang="en-US" sz="2800" dirty="0"/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18712" y="6088065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dirty="0" smtClean="0"/>
              <a:t>Why GP Tool?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820" y="2761151"/>
            <a:ext cx="1838740" cy="145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0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12" y="5727701"/>
            <a:ext cx="10561418" cy="566738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/>
              <a:t>Demo</a:t>
            </a:r>
            <a:endParaRPr lang="en-US" sz="32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18712" y="6088065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Dem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1607" y="0"/>
            <a:ext cx="11028784" cy="562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6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425562" y="2893852"/>
            <a:ext cx="1971950" cy="229584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532" y="2994025"/>
            <a:ext cx="2095500" cy="2095500"/>
          </a:xfrm>
        </p:spPr>
      </p:pic>
      <p:sp>
        <p:nvSpPr>
          <p:cNvPr id="8" name="TextBox 7"/>
          <p:cNvSpPr txBox="1"/>
          <p:nvPr/>
        </p:nvSpPr>
        <p:spPr>
          <a:xfrm>
            <a:off x="2425562" y="5476307"/>
            <a:ext cx="197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Outlook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6833299" y="5491152"/>
            <a:ext cx="2333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ArcGIS Pro</a:t>
            </a:r>
          </a:p>
          <a:p>
            <a:pPr algn="ctr"/>
            <a:r>
              <a:rPr lang="en-US" dirty="0" smtClean="0"/>
              <a:t>(Python 3.0)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167265" y="3320991"/>
            <a:ext cx="233396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Any Version*</a:t>
            </a:r>
          </a:p>
          <a:p>
            <a:pPr algn="ctr"/>
            <a:r>
              <a:rPr lang="en-US" sz="1200" dirty="0" smtClean="0"/>
              <a:t>*3.0 for selection indicator</a:t>
            </a:r>
          </a:p>
          <a:p>
            <a:pPr algn="ctr"/>
            <a:endParaRPr lang="en-US" sz="1200" dirty="0"/>
          </a:p>
          <a:p>
            <a:pPr algn="ctr"/>
            <a:endParaRPr lang="en-US" sz="1200" dirty="0" smtClean="0"/>
          </a:p>
          <a:p>
            <a:pPr algn="ctr"/>
            <a:endParaRPr lang="en-US" sz="1200" dirty="0"/>
          </a:p>
          <a:p>
            <a:pPr algn="ctr"/>
            <a:endParaRPr lang="en-US" sz="1200" dirty="0" smtClean="0"/>
          </a:p>
          <a:p>
            <a:pPr algn="ctr"/>
            <a:r>
              <a:rPr lang="en-US" sz="1200" dirty="0" smtClean="0"/>
              <a:t>Newest version might not have library available in package manager.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 smtClean="0"/>
              <a:t>Reach out to me if you still want to use this tool.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1002" y="3780876"/>
            <a:ext cx="1954783" cy="52179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401002" y="4099339"/>
            <a:ext cx="1529543" cy="20333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File:Windows logo - 2012.png - Wikimedia Commons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217" y="2444051"/>
            <a:ext cx="1134749" cy="1244074"/>
          </a:xfrm>
          <a:prstGeom prst="rect">
            <a:avLst/>
          </a:prstGeom>
        </p:spPr>
      </p:pic>
      <p:sp>
        <p:nvSpPr>
          <p:cNvPr id="14" name="Content Placeholder 2"/>
          <p:cNvSpPr txBox="1">
            <a:spLocks/>
          </p:cNvSpPr>
          <p:nvPr/>
        </p:nvSpPr>
        <p:spPr>
          <a:xfrm>
            <a:off x="818712" y="6088065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65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Download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5276" y="2308225"/>
            <a:ext cx="8601445" cy="363696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96225" y="3368157"/>
            <a:ext cx="619125" cy="304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324794" y="4921120"/>
            <a:ext cx="733425" cy="2571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/>
          <p:cNvSpPr/>
          <p:nvPr/>
        </p:nvSpPr>
        <p:spPr>
          <a:xfrm>
            <a:off x="2836506" y="4422710"/>
            <a:ext cx="755780" cy="26125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2836506" y="3971923"/>
            <a:ext cx="755780" cy="26125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18712" y="6088065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943" y="1116457"/>
            <a:ext cx="3925245" cy="511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6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069961" y="780858"/>
            <a:ext cx="10554574" cy="3636511"/>
          </a:xfrm>
        </p:spPr>
        <p:txBody>
          <a:bodyPr/>
          <a:lstStyle/>
          <a:p>
            <a:r>
              <a:rPr lang="en-US" dirty="0"/>
              <a:t>Custom Library </a:t>
            </a:r>
            <a:r>
              <a:rPr lang="en-US" dirty="0" smtClean="0"/>
              <a:t>Required: ‘</a:t>
            </a:r>
            <a:r>
              <a:rPr lang="en-US" b="1" dirty="0" smtClean="0"/>
              <a:t>pywin32</a:t>
            </a:r>
            <a:r>
              <a:rPr lang="en-US" dirty="0" smtClean="0"/>
              <a:t>’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307" y="-23530"/>
            <a:ext cx="4047489" cy="1618396"/>
          </a:xfrm>
        </p:spPr>
        <p:txBody>
          <a:bodyPr/>
          <a:lstStyle/>
          <a:p>
            <a:r>
              <a:rPr lang="en-US" sz="3100" dirty="0"/>
              <a:t>Setting Up (Pt 1) </a:t>
            </a:r>
            <a:r>
              <a:rPr lang="en-US" sz="3100" dirty="0" smtClean="0"/>
              <a:t>…  </a:t>
            </a:r>
            <a:endParaRPr lang="en-US" sz="31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18712" y="6088065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 descr="Tutorials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3583" y1="24583" x2="43583" y2="24583"/>
                        <a14:foregroundMark x1="53209" y1="56250" x2="53209" y2="56250"/>
                        <a14:foregroundMark x1="47059" y1="60417" x2="43583" y2="65000"/>
                        <a14:foregroundMark x1="61230" y1="58750" x2="66845" y2="45833"/>
                        <a14:foregroundMark x1="55615" y1="75417" x2="55882" y2="754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682" y="2748111"/>
            <a:ext cx="1500055" cy="962602"/>
          </a:xfrm>
          <a:prstGeom prst="rect">
            <a:avLst/>
          </a:prstGeom>
        </p:spPr>
      </p:pic>
      <p:pic>
        <p:nvPicPr>
          <p:cNvPr id="11" name="Content Placeholder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365" y="4012036"/>
            <a:ext cx="630272" cy="63027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294" b="56642" l="10000" r="90000"/>
                    </a14:imgEffect>
                  </a14:imgLayer>
                </a14:imgProps>
              </a:ext>
            </a:extLst>
          </a:blip>
          <a:srcRect b="37065"/>
          <a:stretch/>
        </p:blipFill>
        <p:spPr>
          <a:xfrm>
            <a:off x="979204" y="3941383"/>
            <a:ext cx="1053036" cy="77157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cxnSp>
        <p:nvCxnSpPr>
          <p:cNvPr id="7" name="Straight Arrow Connector 6"/>
          <p:cNvCxnSpPr/>
          <p:nvPr/>
        </p:nvCxnSpPr>
        <p:spPr>
          <a:xfrm>
            <a:off x="3237722" y="3508310"/>
            <a:ext cx="806643" cy="587829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1857481" y="3521036"/>
            <a:ext cx="667955" cy="49100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 rot="19427005">
            <a:off x="1705418" y="3476261"/>
            <a:ext cx="7938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pywin32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 rot="2265002">
            <a:off x="3411538" y="3462659"/>
            <a:ext cx="769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arcpy</a:t>
            </a:r>
            <a:endParaRPr lang="en-US" sz="1600" dirty="0"/>
          </a:p>
        </p:txBody>
      </p:sp>
      <p:sp>
        <p:nvSpPr>
          <p:cNvPr id="22" name="Arc 21"/>
          <p:cNvSpPr/>
          <p:nvPr/>
        </p:nvSpPr>
        <p:spPr>
          <a:xfrm rot="16200000" flipV="1">
            <a:off x="2342888" y="3400664"/>
            <a:ext cx="1146890" cy="2186884"/>
          </a:xfrm>
          <a:prstGeom prst="arc">
            <a:avLst>
              <a:gd name="adj1" fmla="val 16828608"/>
              <a:gd name="adj2" fmla="val 4606855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22" idx="2"/>
          </p:cNvCxnSpPr>
          <p:nvPr/>
        </p:nvCxnSpPr>
        <p:spPr>
          <a:xfrm flipH="1">
            <a:off x="1822891" y="4259697"/>
            <a:ext cx="95528" cy="10037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13191" y="3957639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/>
              <a:t>data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11895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2" grpId="0" animBg="1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073151" y="2566278"/>
            <a:ext cx="10554574" cy="3636511"/>
          </a:xfrm>
        </p:spPr>
        <p:txBody>
          <a:bodyPr/>
          <a:lstStyle/>
          <a:p>
            <a:r>
              <a:rPr lang="en-US" dirty="0"/>
              <a:t>Custom Library </a:t>
            </a:r>
            <a:r>
              <a:rPr lang="en-US" dirty="0" smtClean="0"/>
              <a:t>Required: ‘</a:t>
            </a:r>
            <a:r>
              <a:rPr lang="en-US" b="1" dirty="0" smtClean="0"/>
              <a:t>pywin32</a:t>
            </a:r>
            <a:r>
              <a:rPr lang="en-US" dirty="0" smtClean="0"/>
              <a:t>’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Need to Clone Base Environment</a:t>
            </a:r>
            <a:endParaRPr lang="en-US" dirty="0"/>
          </a:p>
          <a:p>
            <a:pPr lvl="1"/>
            <a:r>
              <a:rPr lang="en-US" dirty="0" smtClean="0"/>
              <a:t>Project -&gt; Package </a:t>
            </a:r>
            <a:r>
              <a:rPr lang="en-US" dirty="0"/>
              <a:t>Manager -&gt;</a:t>
            </a:r>
          </a:p>
          <a:p>
            <a:pPr lvl="1"/>
            <a:r>
              <a:rPr lang="en-US" dirty="0" smtClean="0"/>
              <a:t>Environment Manager -&gt; Clone </a:t>
            </a:r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3307" y="-23530"/>
            <a:ext cx="4047489" cy="1618396"/>
          </a:xfrm>
        </p:spPr>
        <p:txBody>
          <a:bodyPr/>
          <a:lstStyle/>
          <a:p>
            <a:r>
              <a:rPr lang="en-US" sz="3100" dirty="0"/>
              <a:t>Setting Up (Pt 1) </a:t>
            </a:r>
            <a:r>
              <a:rPr lang="en-US" sz="3100" dirty="0" smtClean="0"/>
              <a:t>…  </a:t>
            </a:r>
            <a:endParaRPr lang="en-US" sz="31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467" y="3820079"/>
            <a:ext cx="3943900" cy="95263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278" y="5276252"/>
            <a:ext cx="4648278" cy="811813"/>
          </a:xfrm>
          <a:prstGeom prst="rect">
            <a:avLst/>
          </a:prstGeom>
        </p:spPr>
      </p:pic>
      <p:sp>
        <p:nvSpPr>
          <p:cNvPr id="17" name="Down Arrow 16"/>
          <p:cNvSpPr/>
          <p:nvPr/>
        </p:nvSpPr>
        <p:spPr>
          <a:xfrm>
            <a:off x="8439465" y="4836382"/>
            <a:ext cx="321904" cy="427338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18712" y="6088065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 descr="Tutorials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3583" y1="24583" x2="43583" y2="24583"/>
                        <a14:foregroundMark x1="53209" y1="56250" x2="53209" y2="56250"/>
                        <a14:foregroundMark x1="47059" y1="60417" x2="43583" y2="65000"/>
                        <a14:foregroundMark x1="61230" y1="58750" x2="66845" y2="45833"/>
                        <a14:foregroundMark x1="55615" y1="75417" x2="55882" y2="754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682" y="2748111"/>
            <a:ext cx="1500055" cy="962602"/>
          </a:xfrm>
          <a:prstGeom prst="rect">
            <a:avLst/>
          </a:prstGeom>
        </p:spPr>
      </p:pic>
      <p:pic>
        <p:nvPicPr>
          <p:cNvPr id="11" name="Content Placeholder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365" y="4012036"/>
            <a:ext cx="630272" cy="63027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6651" y="259207"/>
            <a:ext cx="3267531" cy="15051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8284" y="2260708"/>
            <a:ext cx="1724266" cy="1038370"/>
          </a:xfrm>
          <a:prstGeom prst="rect">
            <a:avLst/>
          </a:prstGeom>
        </p:spPr>
      </p:pic>
      <p:sp>
        <p:nvSpPr>
          <p:cNvPr id="16" name="Down Arrow 15"/>
          <p:cNvSpPr/>
          <p:nvPr/>
        </p:nvSpPr>
        <p:spPr>
          <a:xfrm>
            <a:off x="8439465" y="3374079"/>
            <a:ext cx="321904" cy="427338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8440568" y="1800519"/>
            <a:ext cx="321904" cy="427338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Content Placeholder 4"/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6294" b="56642" l="10000" r="90000"/>
                    </a14:imgEffect>
                  </a14:imgLayer>
                </a14:imgProps>
              </a:ext>
            </a:extLst>
          </a:blip>
          <a:srcRect b="37065"/>
          <a:stretch/>
        </p:blipFill>
        <p:spPr>
          <a:xfrm>
            <a:off x="979204" y="3941383"/>
            <a:ext cx="1053036" cy="77157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cxnSp>
        <p:nvCxnSpPr>
          <p:cNvPr id="7" name="Straight Arrow Connector 6"/>
          <p:cNvCxnSpPr/>
          <p:nvPr/>
        </p:nvCxnSpPr>
        <p:spPr>
          <a:xfrm>
            <a:off x="3237722" y="3508310"/>
            <a:ext cx="806643" cy="587829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1857481" y="3521036"/>
            <a:ext cx="667955" cy="49100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 rot="19427005">
            <a:off x="1705418" y="3476261"/>
            <a:ext cx="7938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pywin32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 rot="2265002">
            <a:off x="3411538" y="3462659"/>
            <a:ext cx="769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arcpy</a:t>
            </a:r>
            <a:endParaRPr lang="en-US" sz="1600" dirty="0"/>
          </a:p>
        </p:txBody>
      </p:sp>
      <p:sp>
        <p:nvSpPr>
          <p:cNvPr id="22" name="Arc 21"/>
          <p:cNvSpPr/>
          <p:nvPr/>
        </p:nvSpPr>
        <p:spPr>
          <a:xfrm rot="16200000" flipV="1">
            <a:off x="2342888" y="3400664"/>
            <a:ext cx="1146890" cy="2186884"/>
          </a:xfrm>
          <a:prstGeom prst="arc">
            <a:avLst>
              <a:gd name="adj1" fmla="val 16828608"/>
              <a:gd name="adj2" fmla="val 4606855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22" idx="2"/>
          </p:cNvCxnSpPr>
          <p:nvPr/>
        </p:nvCxnSpPr>
        <p:spPr>
          <a:xfrm flipH="1">
            <a:off x="1822891" y="4259697"/>
            <a:ext cx="95528" cy="10037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13191" y="3957639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 smtClean="0"/>
              <a:t>data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71982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Up (Pt 2) …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936" y="2649758"/>
            <a:ext cx="7482013" cy="2783822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000" y="2227811"/>
            <a:ext cx="5194583" cy="2884516"/>
          </a:xfrm>
        </p:spPr>
        <p:txBody>
          <a:bodyPr/>
          <a:lstStyle/>
          <a:p>
            <a:r>
              <a:rPr lang="en-US" sz="2000" dirty="0" smtClean="0"/>
              <a:t>Custom Library Required</a:t>
            </a:r>
          </a:p>
          <a:p>
            <a:pPr lvl="1"/>
            <a:r>
              <a:rPr lang="en-US" dirty="0" smtClean="0"/>
              <a:t>Add Packages -&gt;</a:t>
            </a:r>
          </a:p>
          <a:p>
            <a:pPr lvl="1"/>
            <a:r>
              <a:rPr lang="en-US" sz="2400" b="1" dirty="0" smtClean="0"/>
              <a:t>‘pywin32’</a:t>
            </a:r>
            <a:endParaRPr lang="en-US" sz="24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701" y="4454720"/>
            <a:ext cx="2404189" cy="818233"/>
          </a:xfrm>
          <a:prstGeom prst="rect">
            <a:avLst/>
          </a:prstGeom>
        </p:spPr>
      </p:pic>
      <p:sp>
        <p:nvSpPr>
          <p:cNvPr id="8" name="Content Placeholder 3"/>
          <p:cNvSpPr txBox="1">
            <a:spLocks/>
          </p:cNvSpPr>
          <p:nvPr/>
        </p:nvSpPr>
        <p:spPr>
          <a:xfrm>
            <a:off x="1196701" y="4413269"/>
            <a:ext cx="9759474" cy="2884516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smtClean="0"/>
              <a:t>If you have any trouble, feel free to reach out to me!</a:t>
            </a:r>
            <a:endParaRPr lang="en-US" b="1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18712" y="6088065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21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0000" y="1863321"/>
            <a:ext cx="5185873" cy="1099411"/>
          </a:xfrm>
        </p:spPr>
        <p:txBody>
          <a:bodyPr/>
          <a:lstStyle/>
          <a:p>
            <a:r>
              <a:rPr lang="en-US" sz="2400" dirty="0" smtClean="0"/>
              <a:t>Set default parameters</a:t>
            </a:r>
            <a:endParaRPr lang="en-US" dirty="0" smtClean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83" y="4084083"/>
            <a:ext cx="4115930" cy="264978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810" y="2718428"/>
            <a:ext cx="2530076" cy="120653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235327" y="3647561"/>
            <a:ext cx="843776" cy="23797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646883" y="4229100"/>
            <a:ext cx="622080" cy="14695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3740876" y="4183589"/>
            <a:ext cx="887108" cy="220787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2235327" y="6411678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Content Placeholder 2"/>
          <p:cNvSpPr>
            <a:spLocks noGrp="1"/>
          </p:cNvSpPr>
          <p:nvPr>
            <p:ph sz="half" idx="1"/>
          </p:nvPr>
        </p:nvSpPr>
        <p:spPr>
          <a:xfrm>
            <a:off x="4919677" y="2771991"/>
            <a:ext cx="5185873" cy="1099411"/>
          </a:xfrm>
        </p:spPr>
        <p:txBody>
          <a:bodyPr/>
          <a:lstStyle/>
          <a:p>
            <a:r>
              <a:rPr lang="en-US" sz="2400" dirty="0"/>
              <a:t>E</a:t>
            </a:r>
            <a:r>
              <a:rPr lang="en-US" sz="2400" dirty="0" smtClean="0"/>
              <a:t>xample Included in Toolbox:</a:t>
            </a:r>
          </a:p>
          <a:p>
            <a:pPr lvl="1"/>
            <a:r>
              <a:rPr lang="en-US" dirty="0" smtClean="0"/>
              <a:t>Bedford County’s Default Parameters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044" y="4084083"/>
            <a:ext cx="5747965" cy="93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0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0000" y="1863321"/>
            <a:ext cx="5185873" cy="1099411"/>
          </a:xfrm>
        </p:spPr>
        <p:txBody>
          <a:bodyPr/>
          <a:lstStyle/>
          <a:p>
            <a:r>
              <a:rPr lang="en-US" sz="2400" dirty="0" smtClean="0"/>
              <a:t>Set default parameters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8703" y="1863321"/>
            <a:ext cx="5194583" cy="109941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Accepts Parsed and Non-Parsed Address 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783" y="3321698"/>
            <a:ext cx="2147306" cy="32367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86" y="3321698"/>
            <a:ext cx="2191583" cy="3236702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8329543" y="3836194"/>
            <a:ext cx="910325" cy="392906"/>
          </a:xfrm>
          <a:prstGeom prst="rightArrow">
            <a:avLst/>
          </a:prstGeom>
          <a:solidFill>
            <a:srgbClr val="35B1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695022" y="4444973"/>
            <a:ext cx="939043" cy="23797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9470571" y="4444972"/>
            <a:ext cx="2287998" cy="11067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urved Connector 10"/>
          <p:cNvCxnSpPr/>
          <p:nvPr/>
        </p:nvCxnSpPr>
        <p:spPr>
          <a:xfrm>
            <a:off x="7623110" y="4814596"/>
            <a:ext cx="2034074" cy="9331"/>
          </a:xfrm>
          <a:prstGeom prst="curvedConnector3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/>
          <p:cNvCxnSpPr/>
          <p:nvPr/>
        </p:nvCxnSpPr>
        <p:spPr>
          <a:xfrm>
            <a:off x="7623110" y="4823927"/>
            <a:ext cx="2034074" cy="312575"/>
          </a:xfrm>
          <a:prstGeom prst="curvedConnector3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>
            <a:off x="7633067" y="4823927"/>
            <a:ext cx="2024117" cy="585049"/>
          </a:xfrm>
          <a:prstGeom prst="curvedConnector3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83" y="4084083"/>
            <a:ext cx="4115930" cy="264978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810" y="2718428"/>
            <a:ext cx="2530076" cy="120653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235327" y="3647561"/>
            <a:ext cx="843776" cy="23797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646883" y="4229100"/>
            <a:ext cx="622080" cy="14695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3740876" y="4183589"/>
            <a:ext cx="887108" cy="220787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"/>
          <p:cNvSpPr txBox="1">
            <a:spLocks/>
          </p:cNvSpPr>
          <p:nvPr/>
        </p:nvSpPr>
        <p:spPr>
          <a:xfrm>
            <a:off x="2235327" y="6411678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30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199" y="1455693"/>
            <a:ext cx="10554574" cy="3411368"/>
          </a:xfrm>
        </p:spPr>
        <p:txBody>
          <a:bodyPr>
            <a:normAutofit/>
          </a:bodyPr>
          <a:lstStyle/>
          <a:p>
            <a:r>
              <a:rPr lang="en-US" sz="3000" dirty="0" smtClean="0"/>
              <a:t>Automate!</a:t>
            </a:r>
          </a:p>
          <a:p>
            <a:pPr lvl="1"/>
            <a:r>
              <a:rPr lang="en-US" sz="1800" dirty="0" smtClean="0"/>
              <a:t>If not to save </a:t>
            </a:r>
            <a:r>
              <a:rPr lang="en-US" sz="1800" b="1" u="sng" dirty="0" smtClean="0"/>
              <a:t>time</a:t>
            </a:r>
            <a:r>
              <a:rPr lang="en-US" sz="1800" dirty="0" smtClean="0"/>
              <a:t>, but to ensure </a:t>
            </a:r>
            <a:r>
              <a:rPr lang="en-US" sz="1800" b="1" u="sng" dirty="0" smtClean="0"/>
              <a:t>data integrity</a:t>
            </a:r>
          </a:p>
          <a:p>
            <a:pPr marL="457200" lvl="1" indent="0">
              <a:buNone/>
            </a:pPr>
            <a:endParaRPr lang="en-US" sz="1800" b="1" u="sng" dirty="0" smtClean="0"/>
          </a:p>
        </p:txBody>
      </p:sp>
      <p:pic>
        <p:nvPicPr>
          <p:cNvPr id="7" name="Picture 6" descr="Premium Vector | Wall clock logo icon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3050" y1="37350" x2="50950" y2="50550"/>
                        <a14:foregroundMark x1="62800" y1="30650" x2="63050" y2="29450"/>
                        <a14:foregroundMark x1="50800" y1="25950" x2="50450" y2="27500"/>
                        <a14:foregroundMark x1="37850" y1="29600" x2="38950" y2="30650"/>
                        <a14:foregroundMark x1="28850" y1="38300" x2="29350" y2="38650"/>
                        <a14:foregroundMark x1="25450" y1="51150" x2="25450" y2="51150"/>
                        <a14:foregroundMark x1="29700" y1="62900" x2="29700" y2="62900"/>
                        <a14:foregroundMark x1="38700" y1="71900" x2="38700" y2="71900"/>
                        <a14:foregroundMark x1="50550" y1="75750" x2="50550" y2="75750"/>
                        <a14:foregroundMark x1="63050" y1="72250" x2="63050" y2="72250"/>
                        <a14:foregroundMark x1="71300" y1="63900" x2="71300" y2="63900"/>
                        <a14:foregroundMark x1="75150" y1="51250" x2="75150" y2="51250"/>
                        <a14:foregroundMark x1="72650" y1="38550" x2="72650" y2="38550"/>
                      </a14:backgroundRemoval>
                    </a14:imgEffect>
                    <a14:imgEffect>
                      <a14:artisticGlowDiffused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214" y="2177724"/>
            <a:ext cx="959327" cy="959327"/>
          </a:xfrm>
          <a:prstGeom prst="rect">
            <a:avLst/>
          </a:prstGeom>
        </p:spPr>
      </p:pic>
      <p:pic>
        <p:nvPicPr>
          <p:cNvPr id="9" name="Picture 8" descr="Target PNG Transparent Images - PNG All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727" y="2627433"/>
            <a:ext cx="748546" cy="748546"/>
          </a:xfrm>
          <a:prstGeom prst="rect">
            <a:avLst/>
          </a:prstGeom>
        </p:spPr>
      </p:pic>
      <p:pic>
        <p:nvPicPr>
          <p:cNvPr id="13" name="Content Placeholder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017" y="277779"/>
            <a:ext cx="2444983" cy="19868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599508" y="1406998"/>
            <a:ext cx="274054" cy="170569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818712" y="6088065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 descr="Clipart - Clipboard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0849">
            <a:off x="8498085" y="1694760"/>
            <a:ext cx="1479765" cy="221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76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7159" y="2397836"/>
            <a:ext cx="10554574" cy="3411368"/>
          </a:xfrm>
        </p:spPr>
        <p:txBody>
          <a:bodyPr>
            <a:normAutofit/>
          </a:bodyPr>
          <a:lstStyle/>
          <a:p>
            <a:r>
              <a:rPr lang="en-US" sz="3000" dirty="0" smtClean="0"/>
              <a:t>Automate!</a:t>
            </a:r>
          </a:p>
          <a:p>
            <a:pPr lvl="1"/>
            <a:r>
              <a:rPr lang="en-US" sz="1800" dirty="0" smtClean="0"/>
              <a:t>If not to save </a:t>
            </a:r>
            <a:r>
              <a:rPr lang="en-US" sz="1800" b="1" u="sng" dirty="0" smtClean="0"/>
              <a:t>time</a:t>
            </a:r>
            <a:r>
              <a:rPr lang="en-US" sz="1800" dirty="0" smtClean="0"/>
              <a:t>, but to ensure </a:t>
            </a:r>
            <a:r>
              <a:rPr lang="en-US" sz="1800" b="1" u="sng" dirty="0" smtClean="0"/>
              <a:t>data integrity</a:t>
            </a:r>
          </a:p>
          <a:p>
            <a:pPr lvl="1"/>
            <a:endParaRPr lang="en-US" sz="1800" b="1" u="sng" dirty="0" smtClean="0"/>
          </a:p>
          <a:p>
            <a:pPr lvl="1"/>
            <a:endParaRPr lang="en-US" sz="1800" b="1" u="sng" dirty="0" smtClean="0"/>
          </a:p>
          <a:p>
            <a:r>
              <a:rPr lang="en-US" sz="3200" dirty="0" smtClean="0"/>
              <a:t>Ask yourself:</a:t>
            </a:r>
          </a:p>
          <a:p>
            <a:pPr lvl="1"/>
            <a:r>
              <a:rPr lang="en-US" dirty="0" smtClean="0"/>
              <a:t>What processes could benefit from automation?</a:t>
            </a:r>
          </a:p>
          <a:p>
            <a:pPr lvl="1"/>
            <a:r>
              <a:rPr lang="en-US" sz="2000" b="1" dirty="0" smtClean="0"/>
              <a:t>Repeatable</a:t>
            </a:r>
            <a:r>
              <a:rPr lang="en-US" sz="2000" dirty="0" smtClean="0"/>
              <a:t> processes, with only a few </a:t>
            </a:r>
            <a:r>
              <a:rPr lang="en-US" sz="2000" b="1" dirty="0" smtClean="0"/>
              <a:t>changing parameters</a:t>
            </a:r>
            <a:endParaRPr lang="en-US" dirty="0" smtClean="0"/>
          </a:p>
        </p:txBody>
      </p:sp>
      <p:pic>
        <p:nvPicPr>
          <p:cNvPr id="7" name="Picture 6" descr="Premium Vector | Wall clock logo icon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3050" y1="37350" x2="50950" y2="50550"/>
                        <a14:foregroundMark x1="62800" y1="30650" x2="63050" y2="29450"/>
                        <a14:foregroundMark x1="50800" y1="25950" x2="50450" y2="27500"/>
                        <a14:foregroundMark x1="37850" y1="29600" x2="38950" y2="30650"/>
                        <a14:foregroundMark x1="28850" y1="38300" x2="29350" y2="38650"/>
                        <a14:foregroundMark x1="25450" y1="51150" x2="25450" y2="51150"/>
                        <a14:foregroundMark x1="29700" y1="62900" x2="29700" y2="62900"/>
                        <a14:foregroundMark x1="38700" y1="71900" x2="38700" y2="71900"/>
                        <a14:foregroundMark x1="50550" y1="75750" x2="50550" y2="75750"/>
                        <a14:foregroundMark x1="63050" y1="72250" x2="63050" y2="72250"/>
                        <a14:foregroundMark x1="71300" y1="63900" x2="71300" y2="63900"/>
                        <a14:foregroundMark x1="75150" y1="51250" x2="75150" y2="51250"/>
                        <a14:foregroundMark x1="72650" y1="38550" x2="72650" y2="38550"/>
                      </a14:backgroundRemoval>
                    </a14:imgEffect>
                    <a14:imgEffect>
                      <a14:artisticGlowDiffused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214" y="2177724"/>
            <a:ext cx="959327" cy="959327"/>
          </a:xfrm>
          <a:prstGeom prst="rect">
            <a:avLst/>
          </a:prstGeom>
        </p:spPr>
      </p:pic>
      <p:pic>
        <p:nvPicPr>
          <p:cNvPr id="9" name="Picture 8" descr="Target PNG Transparent Images - PNG All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727" y="2627433"/>
            <a:ext cx="748546" cy="7485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20868929">
            <a:off x="2503787" y="3804338"/>
            <a:ext cx="466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File:Gear - Noun project 7137.svg - Wikimedia Commons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454" y="4127503"/>
            <a:ext cx="1063690" cy="10636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 rot="1742456">
            <a:off x="2812813" y="409414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Content Placeholder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017" y="277779"/>
            <a:ext cx="2444983" cy="19868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599508" y="1406998"/>
            <a:ext cx="274054" cy="170569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818712" y="6088065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 descr="Clipart - Clipboard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0849">
            <a:off x="8498085" y="1694760"/>
            <a:ext cx="1479765" cy="221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7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48868" y="2554445"/>
            <a:ext cx="10072239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00B0F0"/>
              </a:buClr>
              <a:buSzPct val="150000"/>
              <a:buFont typeface="Courier New" panose="02070309020205020404" pitchFamily="49" charset="0"/>
              <a:buChar char="o"/>
            </a:pPr>
            <a:r>
              <a:rPr lang="en-US" sz="2400" dirty="0" smtClean="0"/>
              <a:t>Email me at:</a:t>
            </a:r>
          </a:p>
          <a:p>
            <a:pPr marL="742950" lvl="1" indent="-285750">
              <a:buClr>
                <a:srgbClr val="00B0F0"/>
              </a:buClr>
              <a:buSzPct val="150000"/>
              <a:buFont typeface="Courier New" panose="02070309020205020404" pitchFamily="49" charset="0"/>
              <a:buChar char="o"/>
            </a:pPr>
            <a:r>
              <a:rPr lang="en-US" sz="2200" dirty="0" smtClean="0">
                <a:hlinkClick r:id="rId3"/>
              </a:rPr>
              <a:t>cwozniak@bedfordcountyva.gov</a:t>
            </a:r>
            <a:endParaRPr lang="en-US" sz="2200" dirty="0" smtClean="0"/>
          </a:p>
          <a:p>
            <a:pPr marL="285750" indent="-285750">
              <a:buClr>
                <a:srgbClr val="00B0F0"/>
              </a:buClr>
              <a:buSzPct val="150000"/>
              <a:buFont typeface="Courier New" panose="02070309020205020404" pitchFamily="49" charset="0"/>
              <a:buChar char="o"/>
            </a:pPr>
            <a:endParaRPr lang="en-US" sz="2400" dirty="0"/>
          </a:p>
          <a:p>
            <a:pPr marL="285750" indent="-285750">
              <a:buClr>
                <a:srgbClr val="00B0F0"/>
              </a:buClr>
              <a:buSzPct val="150000"/>
              <a:buFont typeface="Courier New" panose="02070309020205020404" pitchFamily="49" charset="0"/>
              <a:buChar char="o"/>
            </a:pPr>
            <a:endParaRPr lang="en-US" sz="2400" dirty="0" smtClean="0"/>
          </a:p>
          <a:p>
            <a:pPr marL="285750" indent="-285750">
              <a:buClr>
                <a:srgbClr val="00B0F0"/>
              </a:buClr>
              <a:buSzPct val="150000"/>
              <a:buFont typeface="Courier New" panose="02070309020205020404" pitchFamily="49" charset="0"/>
              <a:buChar char="o"/>
            </a:pPr>
            <a:r>
              <a:rPr lang="en-US" sz="2400" dirty="0" smtClean="0"/>
              <a:t>LinkedIn</a:t>
            </a:r>
            <a:r>
              <a:rPr lang="en-US" dirty="0" smtClean="0"/>
              <a:t>:</a:t>
            </a:r>
          </a:p>
          <a:p>
            <a:pPr marL="742950" lvl="1" indent="-285750">
              <a:buClr>
                <a:srgbClr val="00B0F0"/>
              </a:buClr>
              <a:buSzPct val="150000"/>
              <a:buFont typeface="Courier New" panose="02070309020205020404" pitchFamily="49" charset="0"/>
              <a:buChar char="o"/>
            </a:pPr>
            <a:r>
              <a:rPr lang="en-US" dirty="0"/>
              <a:t>linkedin.com/in/christopherwozniak1</a:t>
            </a:r>
            <a:r>
              <a:rPr lang="en-US" dirty="0" smtClean="0"/>
              <a:t>/</a:t>
            </a:r>
          </a:p>
          <a:p>
            <a:pPr marL="742950" lvl="1" indent="-285750">
              <a:buClr>
                <a:srgbClr val="00B0F0"/>
              </a:buClr>
              <a:buSzPct val="150000"/>
              <a:buFont typeface="Courier New" panose="02070309020205020404" pitchFamily="49" charset="0"/>
              <a:buChar char="o"/>
            </a:pPr>
            <a:endParaRPr lang="en-US" dirty="0"/>
          </a:p>
          <a:p>
            <a:pPr marL="742950" lvl="1" indent="-285750">
              <a:buClr>
                <a:srgbClr val="00B0F0"/>
              </a:buClr>
              <a:buSzPct val="150000"/>
              <a:buFont typeface="Courier New" panose="02070309020205020404" pitchFamily="49" charset="0"/>
              <a:buChar char="o"/>
            </a:pPr>
            <a:endParaRPr lang="en-US" dirty="0" smtClean="0"/>
          </a:p>
          <a:p>
            <a:pPr marL="285750" indent="-285750">
              <a:buClr>
                <a:srgbClr val="00B0F0"/>
              </a:buClr>
              <a:buSzPct val="150000"/>
              <a:buFont typeface="Courier New" panose="02070309020205020404" pitchFamily="49" charset="0"/>
              <a:buChar char="o"/>
            </a:pPr>
            <a:r>
              <a:rPr lang="en-US" sz="2400" dirty="0" smtClean="0"/>
              <a:t>Tool:</a:t>
            </a:r>
            <a:endParaRPr lang="en-US" dirty="0"/>
          </a:p>
          <a:p>
            <a:pPr marL="742950" lvl="1" indent="-285750">
              <a:buClr>
                <a:srgbClr val="35B1E5"/>
              </a:buClr>
              <a:buSzPct val="150000"/>
              <a:buFont typeface="Courier New" panose="02070309020205020404" pitchFamily="49" charset="0"/>
              <a:buChar char="o"/>
            </a:pPr>
            <a:r>
              <a:rPr lang="en-US" dirty="0" smtClean="0"/>
              <a:t>github.com/</a:t>
            </a:r>
            <a:r>
              <a:rPr lang="en-US" dirty="0" err="1" smtClean="0"/>
              <a:t>CWozniak</a:t>
            </a:r>
            <a:r>
              <a:rPr lang="en-US" dirty="0" smtClean="0"/>
              <a:t>-GIS/GIS-Addressing-Outlook-Email-Tool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948" y="2210923"/>
            <a:ext cx="4783050" cy="2728385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Free vector graphic: Email, Letter, Contact, Message - Free Image on ...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051" y="2535956"/>
            <a:ext cx="608729" cy="370944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818712" y="6088065"/>
            <a:ext cx="10554574" cy="59333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Virginia NG911 &amp; GIS User Group Meeting – November 2024</a:t>
            </a:r>
            <a:endParaRPr lang="en-US" sz="1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 descr="Linkedin Médias Sociaux Internet · Photo gratuite sur Pixabay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100000" l="0" r="100000">
                        <a14:foregroundMark x1="32500" y1="47083" x2="32222" y2="50278"/>
                        <a14:foregroundMark x1="34167" y1="32500" x2="34167" y2="32500"/>
                        <a14:foregroundMark x1="50278" y1="49861" x2="50278" y2="49861"/>
                        <a14:foregroundMark x1="58472" y1="45833" x2="65278" y2="47361"/>
                        <a14:foregroundMark x1="67361" y1="52500" x2="66944" y2="61250"/>
                        <a14:foregroundMark x1="47222" y1="46111" x2="48611" y2="61667"/>
                        <a14:foregroundMark x1="31389" y1="34583" x2="34861" y2="352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710" y="3707229"/>
            <a:ext cx="635977" cy="635977"/>
          </a:xfrm>
          <a:prstGeom prst="rect">
            <a:avLst/>
          </a:prstGeom>
        </p:spPr>
      </p:pic>
      <p:pic>
        <p:nvPicPr>
          <p:cNvPr id="8" name="Picture 7" descr="UBC GitHub Instructor Guide | Learning Technology Hub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635" y="4939308"/>
            <a:ext cx="1137231" cy="6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67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596</TotalTime>
  <Words>528</Words>
  <Application>Microsoft Office PowerPoint</Application>
  <PresentationFormat>Widescreen</PresentationFormat>
  <Paragraphs>138</Paragraphs>
  <Slides>19</Slides>
  <Notes>19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Century Gothic</vt:lpstr>
      <vt:lpstr>Courier New</vt:lpstr>
      <vt:lpstr>Wingdings 2</vt:lpstr>
      <vt:lpstr>Quotable</vt:lpstr>
      <vt:lpstr>Automating Addressing Assignment Notifications</vt:lpstr>
      <vt:lpstr>Why Automate? …</vt:lpstr>
      <vt:lpstr>Why Automate?</vt:lpstr>
      <vt:lpstr>Before – Form Letters (manually fill-in-the-blank’s)</vt:lpstr>
      <vt:lpstr>The Idea …</vt:lpstr>
      <vt:lpstr>Solution — Python</vt:lpstr>
      <vt:lpstr>Solution — Geoprocessing Tool</vt:lpstr>
      <vt:lpstr>Why GP Tool?</vt:lpstr>
      <vt:lpstr>Demo</vt:lpstr>
      <vt:lpstr>Requirements</vt:lpstr>
      <vt:lpstr>To Download</vt:lpstr>
      <vt:lpstr>Setting Up (Pt 1) …  </vt:lpstr>
      <vt:lpstr>Setting Up (Pt 1) …  </vt:lpstr>
      <vt:lpstr>Setting Up (Pt 2) …</vt:lpstr>
      <vt:lpstr>Tips</vt:lpstr>
      <vt:lpstr>Tips</vt:lpstr>
      <vt:lpstr>Conclusions</vt:lpstr>
      <vt:lpstr>Conclusions</vt:lpstr>
      <vt:lpstr>Contact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Addressing Assignment Notifications</dc:title>
  <dc:creator>Christopher Wozniak</dc:creator>
  <cp:lastModifiedBy>Christopher Wozniak</cp:lastModifiedBy>
  <cp:revision>66</cp:revision>
  <dcterms:created xsi:type="dcterms:W3CDTF">2024-11-12T16:32:01Z</dcterms:created>
  <dcterms:modified xsi:type="dcterms:W3CDTF">2024-11-13T20:02:31Z</dcterms:modified>
</cp:coreProperties>
</file>